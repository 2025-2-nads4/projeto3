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7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39846" y="1795902"/>
            <a:ext cx="7208308" cy="5057680"/>
          </a:xfrm>
          <a:custGeom>
            <a:avLst/>
            <a:gdLst/>
            <a:ahLst/>
            <a:cxnLst/>
            <a:rect r="r" b="b" t="t" l="l"/>
            <a:pathLst>
              <a:path h="5057680" w="7208308">
                <a:moveTo>
                  <a:pt x="0" y="0"/>
                </a:moveTo>
                <a:lnTo>
                  <a:pt x="7208308" y="0"/>
                </a:lnTo>
                <a:lnTo>
                  <a:pt x="7208308" y="5057680"/>
                </a:lnTo>
                <a:lnTo>
                  <a:pt x="0" y="5057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066" r="0" b="-557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2776" y="8453238"/>
            <a:ext cx="2999022" cy="71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Alexandra Christine</a:t>
            </a:r>
          </a:p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24026156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40777" y="8453238"/>
            <a:ext cx="2382197" cy="71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Hebe</a:t>
            </a: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rt Esteves </a:t>
            </a:r>
          </a:p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24026079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0773" y="8453238"/>
            <a:ext cx="2351620" cy="71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Carlos Augusto</a:t>
            </a:r>
          </a:p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20010535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96378" y="8547181"/>
            <a:ext cx="1887546" cy="71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José Ben</a:t>
            </a: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  </a:t>
            </a:r>
          </a:p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24026127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7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58976" y="4705350"/>
            <a:ext cx="5370049" cy="4114800"/>
          </a:xfrm>
          <a:custGeom>
            <a:avLst/>
            <a:gdLst/>
            <a:ahLst/>
            <a:cxnLst/>
            <a:rect r="r" b="b" t="t" l="l"/>
            <a:pathLst>
              <a:path h="4114800" w="5370049">
                <a:moveTo>
                  <a:pt x="0" y="0"/>
                </a:moveTo>
                <a:lnTo>
                  <a:pt x="5370048" y="0"/>
                </a:lnTo>
                <a:lnTo>
                  <a:pt x="53700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0851" y="975722"/>
            <a:ext cx="14808128" cy="323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spc="-32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BUSINESS MODEL CANVAS</a:t>
            </a:r>
          </a:p>
          <a:p>
            <a:pPr algn="ctr">
              <a:lnSpc>
                <a:spcPts val="128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495" y="190288"/>
            <a:ext cx="17901010" cy="9906423"/>
            <a:chOff x="0" y="0"/>
            <a:chExt cx="43373588" cy="24002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73588" cy="24002953"/>
            </a:xfrm>
            <a:custGeom>
              <a:avLst/>
              <a:gdLst/>
              <a:ahLst/>
              <a:cxnLst/>
              <a:rect r="r" b="b" t="t" l="l"/>
              <a:pathLst>
                <a:path h="24002953" w="43373588">
                  <a:moveTo>
                    <a:pt x="0" y="0"/>
                  </a:moveTo>
                  <a:lnTo>
                    <a:pt x="0" y="24002953"/>
                  </a:lnTo>
                  <a:lnTo>
                    <a:pt x="43373588" y="24002953"/>
                  </a:lnTo>
                  <a:lnTo>
                    <a:pt x="43373588" y="0"/>
                  </a:lnTo>
                  <a:lnTo>
                    <a:pt x="0" y="0"/>
                  </a:lnTo>
                  <a:close/>
                  <a:moveTo>
                    <a:pt x="43312628" y="23941993"/>
                  </a:moveTo>
                  <a:lnTo>
                    <a:pt x="59690" y="23941993"/>
                  </a:lnTo>
                  <a:lnTo>
                    <a:pt x="59690" y="59690"/>
                  </a:lnTo>
                  <a:lnTo>
                    <a:pt x="43312628" y="59690"/>
                  </a:lnTo>
                  <a:lnTo>
                    <a:pt x="43312628" y="239419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3778866" y="3471182"/>
            <a:ext cx="358496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953558" y="3471182"/>
            <a:ext cx="35659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400000">
            <a:off x="492061" y="3471182"/>
            <a:ext cx="657361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4072263" y="3471182"/>
            <a:ext cx="657361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400000">
            <a:off x="7652465" y="3471182"/>
            <a:ext cx="657361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400000">
            <a:off x="11213617" y="3471182"/>
            <a:ext cx="657361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189139" y="6757987"/>
            <a:ext cx="1790101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400000">
            <a:off x="7477594" y="8424394"/>
            <a:ext cx="333281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31893" y="378049"/>
            <a:ext cx="494695" cy="494695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CE1E6">
                <a:alpha val="2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12095" y="378049"/>
            <a:ext cx="494695" cy="494695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>
                <a:alpha val="2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10940" y="378049"/>
            <a:ext cx="494695" cy="494695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B6CE6">
                <a:alpha val="2980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472499" y="378049"/>
            <a:ext cx="494695" cy="494695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9E265">
                <a:alpha val="29804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052701" y="378049"/>
            <a:ext cx="494695" cy="494695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6C4">
                <a:alpha val="1960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1889" y="2099768"/>
            <a:ext cx="2743590" cy="1350854"/>
            <a:chOff x="0" y="0"/>
            <a:chExt cx="3887117" cy="1913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871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87117">
                  <a:moveTo>
                    <a:pt x="3762657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62657" y="0"/>
                  </a:lnTo>
                  <a:cubicBezTo>
                    <a:pt x="3831237" y="0"/>
                    <a:pt x="3887117" y="55880"/>
                    <a:pt x="3887117" y="124460"/>
                  </a:cubicBezTo>
                  <a:lnTo>
                    <a:pt x="3887117" y="1789430"/>
                  </a:lnTo>
                  <a:cubicBezTo>
                    <a:pt x="3887117" y="1858010"/>
                    <a:pt x="3831237" y="1913890"/>
                    <a:pt x="3762657" y="1913890"/>
                  </a:cubicBezTo>
                  <a:close/>
                </a:path>
              </a:pathLst>
            </a:custGeom>
            <a:solidFill>
              <a:srgbClr val="5CE1E6">
                <a:alpha val="29804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07332" y="3682794"/>
            <a:ext cx="494695" cy="494695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BD59">
                <a:alpha val="4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72499" y="3682794"/>
            <a:ext cx="494695" cy="494695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8037">
                <a:alpha val="1960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6445" y="7321426"/>
            <a:ext cx="494695" cy="494695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>
                <a:alpha val="1960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98942" y="7311900"/>
            <a:ext cx="494695" cy="494695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5757">
                <a:alpha val="2980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22788" y="2025078"/>
            <a:ext cx="1350854" cy="1350854"/>
            <a:chOff x="0" y="0"/>
            <a:chExt cx="1913890" cy="19138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FFDE59">
                <a:alpha val="2980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535891" y="2025078"/>
            <a:ext cx="1350854" cy="1350854"/>
            <a:chOff x="0" y="0"/>
            <a:chExt cx="1913890" cy="19138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FFDE59">
                <a:alpha val="2980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070214" y="5252853"/>
            <a:ext cx="1350854" cy="1350854"/>
            <a:chOff x="0" y="0"/>
            <a:chExt cx="1913890" cy="19138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FFBD59">
                <a:alpha val="4000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559442" y="5252853"/>
            <a:ext cx="1350854" cy="1350854"/>
            <a:chOff x="0" y="0"/>
            <a:chExt cx="1913890" cy="19138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FFBD59">
                <a:alpha val="4000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712445" y="5289146"/>
            <a:ext cx="2891686" cy="1350854"/>
            <a:chOff x="0" y="0"/>
            <a:chExt cx="4096940" cy="19138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96940" cy="1913890"/>
            </a:xfrm>
            <a:custGeom>
              <a:avLst/>
              <a:gdLst/>
              <a:ahLst/>
              <a:cxnLst/>
              <a:rect r="r" b="b" t="t" l="l"/>
              <a:pathLst>
                <a:path h="1913890" w="4096940">
                  <a:moveTo>
                    <a:pt x="397248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72480" y="0"/>
                  </a:lnTo>
                  <a:cubicBezTo>
                    <a:pt x="4041060" y="0"/>
                    <a:pt x="4096940" y="55880"/>
                    <a:pt x="4096940" y="124460"/>
                  </a:cubicBezTo>
                  <a:lnTo>
                    <a:pt x="4096940" y="1789430"/>
                  </a:lnTo>
                  <a:cubicBezTo>
                    <a:pt x="4096940" y="1858010"/>
                    <a:pt x="4041060" y="1913890"/>
                    <a:pt x="3972480" y="1913890"/>
                  </a:cubicBezTo>
                  <a:close/>
                </a:path>
              </a:pathLst>
            </a:custGeom>
            <a:solidFill>
              <a:srgbClr val="CB6CE6">
                <a:alpha val="29804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372453" y="2025078"/>
            <a:ext cx="1350854" cy="1350854"/>
            <a:chOff x="0" y="0"/>
            <a:chExt cx="1913890" cy="19138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C9E265">
                <a:alpha val="2980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913284" y="2025078"/>
            <a:ext cx="1350854" cy="1350854"/>
            <a:chOff x="0" y="0"/>
            <a:chExt cx="1913890" cy="19138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C9E265">
                <a:alpha val="2980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372453" y="5296344"/>
            <a:ext cx="1350854" cy="1350854"/>
            <a:chOff x="0" y="0"/>
            <a:chExt cx="1913890" cy="19138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008037">
                <a:alpha val="19608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913284" y="5296344"/>
            <a:ext cx="1350854" cy="1350854"/>
            <a:chOff x="0" y="0"/>
            <a:chExt cx="1913890" cy="19138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178943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789430"/>
                  </a:lnTo>
                  <a:cubicBezTo>
                    <a:pt x="1913890" y="1858010"/>
                    <a:pt x="1858010" y="1913890"/>
                    <a:pt x="1789430" y="1913890"/>
                  </a:cubicBezTo>
                  <a:close/>
                </a:path>
              </a:pathLst>
            </a:custGeom>
            <a:solidFill>
              <a:srgbClr val="008037">
                <a:alpha val="19608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42922" y="8181270"/>
            <a:ext cx="2258971" cy="1350854"/>
            <a:chOff x="0" y="0"/>
            <a:chExt cx="3200510" cy="19138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0051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200510">
                  <a:moveTo>
                    <a:pt x="307605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6050" y="0"/>
                  </a:lnTo>
                  <a:cubicBezTo>
                    <a:pt x="3144630" y="0"/>
                    <a:pt x="3200510" y="55880"/>
                    <a:pt x="3200510" y="124460"/>
                  </a:cubicBezTo>
                  <a:lnTo>
                    <a:pt x="3200510" y="1789430"/>
                  </a:lnTo>
                  <a:cubicBezTo>
                    <a:pt x="3200510" y="1858010"/>
                    <a:pt x="3144630" y="1913890"/>
                    <a:pt x="3076050" y="1913890"/>
                  </a:cubicBezTo>
                  <a:close/>
                </a:path>
              </a:pathLst>
            </a:custGeom>
            <a:solidFill>
              <a:srgbClr val="5271FF">
                <a:alpha val="19608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13002" y="3595392"/>
            <a:ext cx="2743590" cy="1350854"/>
            <a:chOff x="0" y="0"/>
            <a:chExt cx="3887117" cy="19138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871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87117">
                  <a:moveTo>
                    <a:pt x="3762657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62657" y="0"/>
                  </a:lnTo>
                  <a:cubicBezTo>
                    <a:pt x="3831237" y="0"/>
                    <a:pt x="3887117" y="55880"/>
                    <a:pt x="3887117" y="124460"/>
                  </a:cubicBezTo>
                  <a:lnTo>
                    <a:pt x="3887117" y="1789430"/>
                  </a:lnTo>
                  <a:cubicBezTo>
                    <a:pt x="3887117" y="1858010"/>
                    <a:pt x="3831237" y="1913890"/>
                    <a:pt x="3762657" y="1913890"/>
                  </a:cubicBezTo>
                  <a:close/>
                </a:path>
              </a:pathLst>
            </a:custGeom>
            <a:solidFill>
              <a:srgbClr val="5CE1E6">
                <a:alpha val="29804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25685" y="5121383"/>
            <a:ext cx="2743590" cy="1350854"/>
            <a:chOff x="0" y="0"/>
            <a:chExt cx="3887117" cy="191389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871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87117">
                  <a:moveTo>
                    <a:pt x="3762657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62657" y="0"/>
                  </a:lnTo>
                  <a:cubicBezTo>
                    <a:pt x="3831237" y="0"/>
                    <a:pt x="3887117" y="55880"/>
                    <a:pt x="3887117" y="124460"/>
                  </a:cubicBezTo>
                  <a:lnTo>
                    <a:pt x="3887117" y="1789430"/>
                  </a:lnTo>
                  <a:cubicBezTo>
                    <a:pt x="3887117" y="1858010"/>
                    <a:pt x="3831237" y="1913890"/>
                    <a:pt x="3762657" y="1913890"/>
                  </a:cubicBezTo>
                  <a:close/>
                </a:path>
              </a:pathLst>
            </a:custGeom>
            <a:solidFill>
              <a:srgbClr val="5CE1E6">
                <a:alpha val="2980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108837" y="1381948"/>
            <a:ext cx="2777909" cy="523619"/>
            <a:chOff x="0" y="0"/>
            <a:chExt cx="3935740" cy="7418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35740" cy="741863"/>
            </a:xfrm>
            <a:custGeom>
              <a:avLst/>
              <a:gdLst/>
              <a:ahLst/>
              <a:cxnLst/>
              <a:rect r="r" b="b" t="t" l="l"/>
              <a:pathLst>
                <a:path h="741863" w="3935740">
                  <a:moveTo>
                    <a:pt x="3811280" y="741863"/>
                  </a:moveTo>
                  <a:lnTo>
                    <a:pt x="124460" y="741863"/>
                  </a:lnTo>
                  <a:cubicBezTo>
                    <a:pt x="55880" y="741863"/>
                    <a:pt x="0" y="685983"/>
                    <a:pt x="0" y="61740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11280" y="0"/>
                  </a:lnTo>
                  <a:cubicBezTo>
                    <a:pt x="3879860" y="0"/>
                    <a:pt x="3935740" y="55880"/>
                    <a:pt x="3935740" y="124460"/>
                  </a:cubicBezTo>
                  <a:lnTo>
                    <a:pt x="3935740" y="617403"/>
                  </a:lnTo>
                  <a:cubicBezTo>
                    <a:pt x="3935740" y="685983"/>
                    <a:pt x="3879860" y="741863"/>
                    <a:pt x="3811280" y="741863"/>
                  </a:cubicBezTo>
                  <a:close/>
                </a:path>
              </a:pathLst>
            </a:custGeom>
            <a:solidFill>
              <a:srgbClr val="FFDE59">
                <a:alpha val="29804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108837" y="4649596"/>
            <a:ext cx="2777909" cy="523619"/>
            <a:chOff x="0" y="0"/>
            <a:chExt cx="3935740" cy="74186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35740" cy="741863"/>
            </a:xfrm>
            <a:custGeom>
              <a:avLst/>
              <a:gdLst/>
              <a:ahLst/>
              <a:cxnLst/>
              <a:rect r="r" b="b" t="t" l="l"/>
              <a:pathLst>
                <a:path h="741863" w="3935740">
                  <a:moveTo>
                    <a:pt x="3811280" y="741863"/>
                  </a:moveTo>
                  <a:lnTo>
                    <a:pt x="124460" y="741863"/>
                  </a:lnTo>
                  <a:cubicBezTo>
                    <a:pt x="55880" y="741863"/>
                    <a:pt x="0" y="685983"/>
                    <a:pt x="0" y="61740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11280" y="0"/>
                  </a:lnTo>
                  <a:cubicBezTo>
                    <a:pt x="3879860" y="0"/>
                    <a:pt x="3935740" y="55880"/>
                    <a:pt x="3935740" y="124460"/>
                  </a:cubicBezTo>
                  <a:lnTo>
                    <a:pt x="3935740" y="617403"/>
                  </a:lnTo>
                  <a:cubicBezTo>
                    <a:pt x="3935740" y="685983"/>
                    <a:pt x="3879860" y="741863"/>
                    <a:pt x="3811280" y="741863"/>
                  </a:cubicBezTo>
                  <a:close/>
                </a:path>
              </a:pathLst>
            </a:custGeom>
            <a:solidFill>
              <a:srgbClr val="FFBD59">
                <a:alpha val="40000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712445" y="3642442"/>
            <a:ext cx="2891686" cy="1350854"/>
            <a:chOff x="0" y="0"/>
            <a:chExt cx="4096940" cy="191389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96940" cy="1913890"/>
            </a:xfrm>
            <a:custGeom>
              <a:avLst/>
              <a:gdLst/>
              <a:ahLst/>
              <a:cxnLst/>
              <a:rect r="r" b="b" t="t" l="l"/>
              <a:pathLst>
                <a:path h="1913890" w="4096940">
                  <a:moveTo>
                    <a:pt x="397248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72480" y="0"/>
                  </a:lnTo>
                  <a:cubicBezTo>
                    <a:pt x="4041060" y="0"/>
                    <a:pt x="4096940" y="55880"/>
                    <a:pt x="4096940" y="124460"/>
                  </a:cubicBezTo>
                  <a:lnTo>
                    <a:pt x="4096940" y="1789430"/>
                  </a:lnTo>
                  <a:cubicBezTo>
                    <a:pt x="4096940" y="1858010"/>
                    <a:pt x="4041060" y="1913890"/>
                    <a:pt x="3972480" y="1913890"/>
                  </a:cubicBezTo>
                  <a:close/>
                </a:path>
              </a:pathLst>
            </a:custGeom>
            <a:solidFill>
              <a:srgbClr val="CB6CE6">
                <a:alpha val="29804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712445" y="1996313"/>
            <a:ext cx="2891686" cy="1350854"/>
            <a:chOff x="0" y="0"/>
            <a:chExt cx="4096940" cy="19138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96940" cy="1913890"/>
            </a:xfrm>
            <a:custGeom>
              <a:avLst/>
              <a:gdLst/>
              <a:ahLst/>
              <a:cxnLst/>
              <a:rect r="r" b="b" t="t" l="l"/>
              <a:pathLst>
                <a:path h="1913890" w="4096940">
                  <a:moveTo>
                    <a:pt x="397248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72480" y="0"/>
                  </a:lnTo>
                  <a:cubicBezTo>
                    <a:pt x="4041060" y="0"/>
                    <a:pt x="4096940" y="55880"/>
                    <a:pt x="4096940" y="124460"/>
                  </a:cubicBezTo>
                  <a:lnTo>
                    <a:pt x="4096940" y="1789430"/>
                  </a:lnTo>
                  <a:cubicBezTo>
                    <a:pt x="4096940" y="1858010"/>
                    <a:pt x="4041060" y="1913890"/>
                    <a:pt x="3972480" y="1913890"/>
                  </a:cubicBezTo>
                  <a:close/>
                </a:path>
              </a:pathLst>
            </a:custGeom>
            <a:solidFill>
              <a:srgbClr val="CB6CE6">
                <a:alpha val="29804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420283" y="1384329"/>
            <a:ext cx="2777909" cy="523619"/>
            <a:chOff x="0" y="0"/>
            <a:chExt cx="3935740" cy="74186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35740" cy="741863"/>
            </a:xfrm>
            <a:custGeom>
              <a:avLst/>
              <a:gdLst/>
              <a:ahLst/>
              <a:cxnLst/>
              <a:rect r="r" b="b" t="t" l="l"/>
              <a:pathLst>
                <a:path h="741863" w="3935740">
                  <a:moveTo>
                    <a:pt x="3811280" y="741863"/>
                  </a:moveTo>
                  <a:lnTo>
                    <a:pt x="124460" y="741863"/>
                  </a:lnTo>
                  <a:cubicBezTo>
                    <a:pt x="55880" y="741863"/>
                    <a:pt x="0" y="685983"/>
                    <a:pt x="0" y="61740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11280" y="0"/>
                  </a:lnTo>
                  <a:cubicBezTo>
                    <a:pt x="3879860" y="0"/>
                    <a:pt x="3935740" y="55880"/>
                    <a:pt x="3935740" y="124460"/>
                  </a:cubicBezTo>
                  <a:lnTo>
                    <a:pt x="3935740" y="617403"/>
                  </a:lnTo>
                  <a:cubicBezTo>
                    <a:pt x="3935740" y="685983"/>
                    <a:pt x="3879860" y="741863"/>
                    <a:pt x="3811280" y="741863"/>
                  </a:cubicBezTo>
                  <a:close/>
                </a:path>
              </a:pathLst>
            </a:custGeom>
            <a:solidFill>
              <a:srgbClr val="C9E265">
                <a:alpha val="29804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29808" y="4665208"/>
            <a:ext cx="2777909" cy="523619"/>
            <a:chOff x="0" y="0"/>
            <a:chExt cx="3935740" cy="74186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35740" cy="741863"/>
            </a:xfrm>
            <a:custGeom>
              <a:avLst/>
              <a:gdLst/>
              <a:ahLst/>
              <a:cxnLst/>
              <a:rect r="r" b="b" t="t" l="l"/>
              <a:pathLst>
                <a:path h="741863" w="3935740">
                  <a:moveTo>
                    <a:pt x="3811280" y="741863"/>
                  </a:moveTo>
                  <a:lnTo>
                    <a:pt x="124460" y="741863"/>
                  </a:lnTo>
                  <a:cubicBezTo>
                    <a:pt x="55880" y="741863"/>
                    <a:pt x="0" y="685983"/>
                    <a:pt x="0" y="61740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11280" y="0"/>
                  </a:lnTo>
                  <a:cubicBezTo>
                    <a:pt x="3879860" y="0"/>
                    <a:pt x="3935740" y="55880"/>
                    <a:pt x="3935740" y="124460"/>
                  </a:cubicBezTo>
                  <a:lnTo>
                    <a:pt x="3935740" y="617403"/>
                  </a:lnTo>
                  <a:cubicBezTo>
                    <a:pt x="3935740" y="685983"/>
                    <a:pt x="3879860" y="741863"/>
                    <a:pt x="3811280" y="741863"/>
                  </a:cubicBezTo>
                  <a:close/>
                </a:path>
              </a:pathLst>
            </a:custGeom>
            <a:solidFill>
              <a:srgbClr val="008037">
                <a:alpha val="19608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948098" y="2131335"/>
            <a:ext cx="2743590" cy="1350854"/>
            <a:chOff x="0" y="0"/>
            <a:chExt cx="3887117" cy="191389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871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87117">
                  <a:moveTo>
                    <a:pt x="3762657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62657" y="0"/>
                  </a:lnTo>
                  <a:cubicBezTo>
                    <a:pt x="3831237" y="0"/>
                    <a:pt x="3887117" y="55880"/>
                    <a:pt x="3887117" y="124460"/>
                  </a:cubicBezTo>
                  <a:lnTo>
                    <a:pt x="3887117" y="1789430"/>
                  </a:lnTo>
                  <a:cubicBezTo>
                    <a:pt x="3887117" y="1858010"/>
                    <a:pt x="3831237" y="1913890"/>
                    <a:pt x="3762657" y="1913890"/>
                  </a:cubicBezTo>
                  <a:close/>
                </a:path>
              </a:pathLst>
            </a:custGeom>
            <a:solidFill>
              <a:srgbClr val="FF66C4">
                <a:alpha val="19608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959210" y="3626958"/>
            <a:ext cx="2743590" cy="1350854"/>
            <a:chOff x="0" y="0"/>
            <a:chExt cx="3887117" cy="191389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8871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87117">
                  <a:moveTo>
                    <a:pt x="3762657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62657" y="0"/>
                  </a:lnTo>
                  <a:cubicBezTo>
                    <a:pt x="3831237" y="0"/>
                    <a:pt x="3887117" y="55880"/>
                    <a:pt x="3887117" y="124460"/>
                  </a:cubicBezTo>
                  <a:lnTo>
                    <a:pt x="3887117" y="1789430"/>
                  </a:lnTo>
                  <a:cubicBezTo>
                    <a:pt x="3887117" y="1858010"/>
                    <a:pt x="3831237" y="1913890"/>
                    <a:pt x="3762657" y="1913890"/>
                  </a:cubicBezTo>
                  <a:close/>
                </a:path>
              </a:pathLst>
            </a:custGeom>
            <a:solidFill>
              <a:srgbClr val="FF66C4">
                <a:alpha val="19608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971894" y="5152950"/>
            <a:ext cx="2743590" cy="1350854"/>
            <a:chOff x="0" y="0"/>
            <a:chExt cx="3887117" cy="191389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871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887117">
                  <a:moveTo>
                    <a:pt x="3762657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62657" y="0"/>
                  </a:lnTo>
                  <a:cubicBezTo>
                    <a:pt x="3831237" y="0"/>
                    <a:pt x="3887117" y="55880"/>
                    <a:pt x="3887117" y="124460"/>
                  </a:cubicBezTo>
                  <a:lnTo>
                    <a:pt x="3887117" y="1789430"/>
                  </a:lnTo>
                  <a:cubicBezTo>
                    <a:pt x="3887117" y="1858010"/>
                    <a:pt x="3831237" y="1913890"/>
                    <a:pt x="3762657" y="1913890"/>
                  </a:cubicBezTo>
                  <a:close/>
                </a:path>
              </a:pathLst>
            </a:custGeom>
            <a:solidFill>
              <a:srgbClr val="FF66C4">
                <a:alpha val="19608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441741" y="8176507"/>
            <a:ext cx="2258971" cy="1350854"/>
            <a:chOff x="0" y="0"/>
            <a:chExt cx="3200510" cy="191389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0051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200510">
                  <a:moveTo>
                    <a:pt x="307605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6050" y="0"/>
                  </a:lnTo>
                  <a:cubicBezTo>
                    <a:pt x="3144630" y="0"/>
                    <a:pt x="3200510" y="55880"/>
                    <a:pt x="3200510" y="124460"/>
                  </a:cubicBezTo>
                  <a:lnTo>
                    <a:pt x="3200510" y="1789430"/>
                  </a:lnTo>
                  <a:cubicBezTo>
                    <a:pt x="3200510" y="1858010"/>
                    <a:pt x="3144630" y="1913890"/>
                    <a:pt x="3076050" y="1913890"/>
                  </a:cubicBezTo>
                  <a:close/>
                </a:path>
              </a:pathLst>
            </a:custGeom>
            <a:solidFill>
              <a:srgbClr val="5271FF">
                <a:alpha val="19608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340560" y="8171744"/>
            <a:ext cx="2258971" cy="1350854"/>
            <a:chOff x="0" y="0"/>
            <a:chExt cx="3200510" cy="191389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0051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200510">
                  <a:moveTo>
                    <a:pt x="307605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6050" y="0"/>
                  </a:lnTo>
                  <a:cubicBezTo>
                    <a:pt x="3144630" y="0"/>
                    <a:pt x="3200510" y="55880"/>
                    <a:pt x="3200510" y="124460"/>
                  </a:cubicBezTo>
                  <a:lnTo>
                    <a:pt x="3200510" y="1789430"/>
                  </a:lnTo>
                  <a:cubicBezTo>
                    <a:pt x="3200510" y="1858010"/>
                    <a:pt x="3144630" y="1913890"/>
                    <a:pt x="3076050" y="1913890"/>
                  </a:cubicBezTo>
                  <a:close/>
                </a:path>
              </a:pathLst>
            </a:custGeom>
            <a:solidFill>
              <a:srgbClr val="5271FF">
                <a:alpha val="19608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560407" y="8171744"/>
            <a:ext cx="2258971" cy="1350854"/>
            <a:chOff x="0" y="0"/>
            <a:chExt cx="3200510" cy="191389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20051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200510">
                  <a:moveTo>
                    <a:pt x="307605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6050" y="0"/>
                  </a:lnTo>
                  <a:cubicBezTo>
                    <a:pt x="3144630" y="0"/>
                    <a:pt x="3200510" y="55880"/>
                    <a:pt x="3200510" y="124460"/>
                  </a:cubicBezTo>
                  <a:lnTo>
                    <a:pt x="3200510" y="1789430"/>
                  </a:lnTo>
                  <a:cubicBezTo>
                    <a:pt x="3200510" y="1858010"/>
                    <a:pt x="3144630" y="1913890"/>
                    <a:pt x="3076050" y="1913890"/>
                  </a:cubicBezTo>
                  <a:close/>
                </a:path>
              </a:pathLst>
            </a:custGeom>
            <a:solidFill>
              <a:srgbClr val="FF5757">
                <a:alpha val="19608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59225" y="8166982"/>
            <a:ext cx="2258971" cy="1350854"/>
            <a:chOff x="0" y="0"/>
            <a:chExt cx="3200510" cy="191389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20051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200510">
                  <a:moveTo>
                    <a:pt x="307605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6050" y="0"/>
                  </a:lnTo>
                  <a:cubicBezTo>
                    <a:pt x="3144630" y="0"/>
                    <a:pt x="3200510" y="55880"/>
                    <a:pt x="3200510" y="124460"/>
                  </a:cubicBezTo>
                  <a:lnTo>
                    <a:pt x="3200510" y="1789430"/>
                  </a:lnTo>
                  <a:cubicBezTo>
                    <a:pt x="3200510" y="1858010"/>
                    <a:pt x="3144630" y="1913890"/>
                    <a:pt x="3076050" y="1913890"/>
                  </a:cubicBezTo>
                  <a:close/>
                </a:path>
              </a:pathLst>
            </a:custGeom>
            <a:solidFill>
              <a:srgbClr val="FF5757">
                <a:alpha val="19608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358044" y="8162219"/>
            <a:ext cx="2258971" cy="1350854"/>
            <a:chOff x="0" y="0"/>
            <a:chExt cx="3200510" cy="191389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00510" cy="1913890"/>
            </a:xfrm>
            <a:custGeom>
              <a:avLst/>
              <a:gdLst/>
              <a:ahLst/>
              <a:cxnLst/>
              <a:rect r="r" b="b" t="t" l="l"/>
              <a:pathLst>
                <a:path h="1913890" w="3200510">
                  <a:moveTo>
                    <a:pt x="3076050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6050" y="0"/>
                  </a:lnTo>
                  <a:cubicBezTo>
                    <a:pt x="3144630" y="0"/>
                    <a:pt x="3200510" y="55880"/>
                    <a:pt x="3200510" y="124460"/>
                  </a:cubicBezTo>
                  <a:lnTo>
                    <a:pt x="3200510" y="1789430"/>
                  </a:lnTo>
                  <a:cubicBezTo>
                    <a:pt x="3200510" y="1858010"/>
                    <a:pt x="3144630" y="1913890"/>
                    <a:pt x="3076050" y="1913890"/>
                  </a:cubicBezTo>
                  <a:close/>
                </a:path>
              </a:pathLst>
            </a:custGeom>
            <a:solidFill>
              <a:srgbClr val="FF5757">
                <a:alpha val="19608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211754" y="190288"/>
            <a:ext cx="3552825" cy="6572462"/>
            <a:chOff x="0" y="0"/>
            <a:chExt cx="935723" cy="173101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35724" cy="1731019"/>
            </a:xfrm>
            <a:custGeom>
              <a:avLst/>
              <a:gdLst/>
              <a:ahLst/>
              <a:cxnLst/>
              <a:rect r="r" b="b" t="t" l="l"/>
              <a:pathLst>
                <a:path h="1731019" w="935724">
                  <a:moveTo>
                    <a:pt x="0" y="0"/>
                  </a:moveTo>
                  <a:lnTo>
                    <a:pt x="935724" y="0"/>
                  </a:lnTo>
                  <a:lnTo>
                    <a:pt x="935724" y="1731019"/>
                  </a:lnTo>
                  <a:lnTo>
                    <a:pt x="0" y="1731019"/>
                  </a:lnTo>
                  <a:close/>
                </a:path>
              </a:pathLst>
            </a:custGeom>
            <a:solidFill>
              <a:srgbClr val="5CE1E6">
                <a:alpha val="11765"/>
              </a:srgbClr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935723" cy="1750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793154" y="190288"/>
            <a:ext cx="3551627" cy="3285656"/>
            <a:chOff x="0" y="0"/>
            <a:chExt cx="935408" cy="86535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35408" cy="865358"/>
            </a:xfrm>
            <a:custGeom>
              <a:avLst/>
              <a:gdLst/>
              <a:ahLst/>
              <a:cxnLst/>
              <a:rect r="r" b="b" t="t" l="l"/>
              <a:pathLst>
                <a:path h="865358" w="935408">
                  <a:moveTo>
                    <a:pt x="0" y="0"/>
                  </a:moveTo>
                  <a:lnTo>
                    <a:pt x="935408" y="0"/>
                  </a:lnTo>
                  <a:lnTo>
                    <a:pt x="935408" y="865358"/>
                  </a:lnTo>
                  <a:lnTo>
                    <a:pt x="0" y="865358"/>
                  </a:lnTo>
                  <a:close/>
                </a:path>
              </a:pathLst>
            </a:custGeom>
            <a:solidFill>
              <a:srgbClr val="FFDE59">
                <a:alpha val="11765"/>
              </a:srgbClr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935408" cy="88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4514710" y="92088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Fontes de receita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359068" y="92088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Relacão com cliente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929745" y="422319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Atividade chave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764579" y="422319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Canais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834734" y="459980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396293" y="459980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5976495" y="459980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929745" y="92088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Estrutura de custos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231126" y="3764724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396293" y="3764724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35105" y="7273801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Recursos principais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70239" y="7403356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422736" y="7393830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087775" y="7264275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Parcerias principais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070214" y="5652055"/>
            <a:ext cx="1350854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Blog e Redes Sociais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574827" y="5699653"/>
            <a:ext cx="1350854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Indicação por Parceiros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8482860" y="5736247"/>
            <a:ext cx="1350854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Suporte Online (tutoriais, chat)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372658" y="2527073"/>
            <a:ext cx="135085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Custos Variáveis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913284" y="2338325"/>
            <a:ext cx="1350854" cy="64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 para adicionar um novo cliente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368992" y="5607927"/>
            <a:ext cx="1350854" cy="64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Garantir a conexão com Clientes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913284" y="5652055"/>
            <a:ext cx="1350854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Ajudar o cliente a ter resultado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793793" y="8530496"/>
            <a:ext cx="1773599" cy="64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 Software (Programa, Códigos de IA)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805695" y="4769983"/>
            <a:ext cx="1507494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Equipe de Vendas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076221" y="4088942"/>
            <a:ext cx="2135558" cy="64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Acompanhamento Pessoal (para clientes grandes)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7984001" y="2452828"/>
            <a:ext cx="2348573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Ajuda Inicial para Configurar (Onboarding)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133810" y="1527282"/>
            <a:ext cx="1350854" cy="2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Custos Fixos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772708" y="4808083"/>
            <a:ext cx="2234748" cy="2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b="true" sz="1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Manter o Sistema no Ar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140001" y="2444682"/>
            <a:ext cx="2407375" cy="58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b="true" sz="18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Mensalidade pelo Uso (SaaS)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5140001" y="3901567"/>
            <a:ext cx="2407375" cy="85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b="true" sz="18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Planos (Básico, Pro, etc., variando por função)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5141437" y="5688336"/>
            <a:ext cx="2407375" cy="3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b="true" sz="18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Taxa de Instalação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3585294" y="8518519"/>
            <a:ext cx="1997961" cy="64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Equipe (Programadores, Suporte, Vendas)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6794618" y="8623334"/>
            <a:ext cx="1350854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Servidores (Nuvem)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9833715" y="8635284"/>
            <a:ext cx="1773599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Apps de Delivery (iFood, Rappi)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2668996" y="8618544"/>
            <a:ext cx="1997961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Meios de Pagamento (Stone, Pagar.me)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5619893" y="8613782"/>
            <a:ext cx="1735273" cy="64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Empresas de Servidor (AWS, Google)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3793154" y="3482189"/>
            <a:ext cx="3551627" cy="3285656"/>
            <a:chOff x="0" y="0"/>
            <a:chExt cx="935408" cy="86535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35408" cy="865358"/>
            </a:xfrm>
            <a:custGeom>
              <a:avLst/>
              <a:gdLst/>
              <a:ahLst/>
              <a:cxnLst/>
              <a:rect r="r" b="b" t="t" l="l"/>
              <a:pathLst>
                <a:path h="865358" w="935408">
                  <a:moveTo>
                    <a:pt x="0" y="0"/>
                  </a:moveTo>
                  <a:lnTo>
                    <a:pt x="935408" y="0"/>
                  </a:lnTo>
                  <a:lnTo>
                    <a:pt x="935408" y="865358"/>
                  </a:lnTo>
                  <a:lnTo>
                    <a:pt x="0" y="865358"/>
                  </a:lnTo>
                  <a:close/>
                </a:path>
              </a:pathLst>
            </a:custGeom>
            <a:solidFill>
              <a:srgbClr val="FFBD59">
                <a:alpha val="11765"/>
              </a:srgbClr>
            </a:solid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935408" cy="88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377519" y="196514"/>
            <a:ext cx="3552825" cy="6572462"/>
            <a:chOff x="0" y="0"/>
            <a:chExt cx="935723" cy="173101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35724" cy="1731019"/>
            </a:xfrm>
            <a:custGeom>
              <a:avLst/>
              <a:gdLst/>
              <a:ahLst/>
              <a:cxnLst/>
              <a:rect r="r" b="b" t="t" l="l"/>
              <a:pathLst>
                <a:path h="1731019" w="935724">
                  <a:moveTo>
                    <a:pt x="0" y="0"/>
                  </a:moveTo>
                  <a:lnTo>
                    <a:pt x="935724" y="0"/>
                  </a:lnTo>
                  <a:lnTo>
                    <a:pt x="935724" y="1731019"/>
                  </a:lnTo>
                  <a:lnTo>
                    <a:pt x="0" y="1731019"/>
                  </a:lnTo>
                  <a:close/>
                </a:path>
              </a:pathLst>
            </a:custGeom>
            <a:solidFill>
              <a:srgbClr val="CB6CE6">
                <a:alpha val="11765"/>
              </a:srgbClr>
            </a:solid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935723" cy="1750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958320" y="197088"/>
            <a:ext cx="3551627" cy="3285656"/>
            <a:chOff x="0" y="0"/>
            <a:chExt cx="935408" cy="86535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35408" cy="865358"/>
            </a:xfrm>
            <a:custGeom>
              <a:avLst/>
              <a:gdLst/>
              <a:ahLst/>
              <a:cxnLst/>
              <a:rect r="r" b="b" t="t" l="l"/>
              <a:pathLst>
                <a:path h="865358" w="935408">
                  <a:moveTo>
                    <a:pt x="0" y="0"/>
                  </a:moveTo>
                  <a:lnTo>
                    <a:pt x="935408" y="0"/>
                  </a:lnTo>
                  <a:lnTo>
                    <a:pt x="935408" y="865358"/>
                  </a:lnTo>
                  <a:lnTo>
                    <a:pt x="0" y="865358"/>
                  </a:lnTo>
                  <a:close/>
                </a:path>
              </a:pathLst>
            </a:custGeom>
            <a:solidFill>
              <a:srgbClr val="C9E265">
                <a:alpha val="11765"/>
              </a:srgbClr>
            </a:solid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935408" cy="88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953558" y="3492844"/>
            <a:ext cx="3551627" cy="3285656"/>
            <a:chOff x="0" y="0"/>
            <a:chExt cx="935408" cy="86535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35408" cy="865358"/>
            </a:xfrm>
            <a:custGeom>
              <a:avLst/>
              <a:gdLst/>
              <a:ahLst/>
              <a:cxnLst/>
              <a:rect r="r" b="b" t="t" l="l"/>
              <a:pathLst>
                <a:path h="865358" w="935408">
                  <a:moveTo>
                    <a:pt x="0" y="0"/>
                  </a:moveTo>
                  <a:lnTo>
                    <a:pt x="935408" y="0"/>
                  </a:lnTo>
                  <a:lnTo>
                    <a:pt x="935408" y="865358"/>
                  </a:lnTo>
                  <a:lnTo>
                    <a:pt x="0" y="865358"/>
                  </a:lnTo>
                  <a:close/>
                </a:path>
              </a:pathLst>
            </a:custGeom>
            <a:solidFill>
              <a:srgbClr val="008037">
                <a:alpha val="11765"/>
              </a:srgbClr>
            </a:solid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935408" cy="88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500423" y="206613"/>
            <a:ext cx="3552825" cy="6572462"/>
            <a:chOff x="0" y="0"/>
            <a:chExt cx="935723" cy="173101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35724" cy="1731019"/>
            </a:xfrm>
            <a:custGeom>
              <a:avLst/>
              <a:gdLst/>
              <a:ahLst/>
              <a:cxnLst/>
              <a:rect r="r" b="b" t="t" l="l"/>
              <a:pathLst>
                <a:path h="1731019" w="935724">
                  <a:moveTo>
                    <a:pt x="0" y="0"/>
                  </a:moveTo>
                  <a:lnTo>
                    <a:pt x="935724" y="0"/>
                  </a:lnTo>
                  <a:lnTo>
                    <a:pt x="935724" y="1731019"/>
                  </a:lnTo>
                  <a:lnTo>
                    <a:pt x="0" y="1731019"/>
                  </a:lnTo>
                  <a:close/>
                </a:path>
              </a:pathLst>
            </a:custGeom>
            <a:solidFill>
              <a:srgbClr val="FF66C4">
                <a:alpha val="11765"/>
              </a:srgbClr>
            </a:solid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935723" cy="1750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40" id="140"/>
          <p:cNvGrpSpPr/>
          <p:nvPr/>
        </p:nvGrpSpPr>
        <p:grpSpPr>
          <a:xfrm rot="-5400000">
            <a:off x="3028745" y="3980307"/>
            <a:ext cx="3308667" cy="8921843"/>
            <a:chOff x="0" y="0"/>
            <a:chExt cx="871419" cy="234978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71419" cy="2349786"/>
            </a:xfrm>
            <a:custGeom>
              <a:avLst/>
              <a:gdLst/>
              <a:ahLst/>
              <a:cxnLst/>
              <a:rect r="r" b="b" t="t" l="l"/>
              <a:pathLst>
                <a:path h="2349786" w="871419">
                  <a:moveTo>
                    <a:pt x="0" y="0"/>
                  </a:moveTo>
                  <a:lnTo>
                    <a:pt x="871419" y="0"/>
                  </a:lnTo>
                  <a:lnTo>
                    <a:pt x="871419" y="2349786"/>
                  </a:lnTo>
                  <a:lnTo>
                    <a:pt x="0" y="2349786"/>
                  </a:lnTo>
                  <a:close/>
                </a:path>
              </a:pathLst>
            </a:custGeom>
            <a:solidFill>
              <a:srgbClr val="5271FF">
                <a:alpha val="11765"/>
              </a:srgbClr>
            </a:solid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871419" cy="2368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43" id="143"/>
          <p:cNvGrpSpPr/>
          <p:nvPr/>
        </p:nvGrpSpPr>
        <p:grpSpPr>
          <a:xfrm rot="-5400000">
            <a:off x="11964875" y="3961257"/>
            <a:ext cx="3308667" cy="8921843"/>
            <a:chOff x="0" y="0"/>
            <a:chExt cx="871419" cy="234978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71419" cy="2349786"/>
            </a:xfrm>
            <a:custGeom>
              <a:avLst/>
              <a:gdLst/>
              <a:ahLst/>
              <a:cxnLst/>
              <a:rect r="r" b="b" t="t" l="l"/>
              <a:pathLst>
                <a:path h="2349786" w="871419">
                  <a:moveTo>
                    <a:pt x="0" y="0"/>
                  </a:moveTo>
                  <a:lnTo>
                    <a:pt x="871419" y="0"/>
                  </a:lnTo>
                  <a:lnTo>
                    <a:pt x="871419" y="2349786"/>
                  </a:lnTo>
                  <a:lnTo>
                    <a:pt x="0" y="2349786"/>
                  </a:lnTo>
                  <a:close/>
                </a:path>
              </a:pathLst>
            </a:custGeom>
            <a:solidFill>
              <a:srgbClr val="FF5757">
                <a:alpha val="11765"/>
              </a:srgbClr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871419" cy="2368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-51430" y="189139"/>
            <a:ext cx="253659" cy="9907572"/>
            <a:chOff x="0" y="0"/>
            <a:chExt cx="66807" cy="260940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6807" cy="2609402"/>
            </a:xfrm>
            <a:custGeom>
              <a:avLst/>
              <a:gdLst/>
              <a:ahLst/>
              <a:cxnLst/>
              <a:rect r="r" b="b" t="t" l="l"/>
              <a:pathLst>
                <a:path h="2609402" w="66807">
                  <a:moveTo>
                    <a:pt x="0" y="0"/>
                  </a:moveTo>
                  <a:lnTo>
                    <a:pt x="66807" y="0"/>
                  </a:lnTo>
                  <a:lnTo>
                    <a:pt x="66807" y="2609402"/>
                  </a:lnTo>
                  <a:lnTo>
                    <a:pt x="0" y="2609402"/>
                  </a:lnTo>
                  <a:close/>
                </a:path>
              </a:pathLst>
            </a:custGeom>
            <a:solidFill>
              <a:srgbClr val="FF7544">
                <a:alpha val="69804"/>
              </a:srgbClr>
            </a:solid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66807" cy="262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189139" y="92088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Segmentos de clientes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655687" y="459980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5235889" y="459980"/>
            <a:ext cx="647107" cy="2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775553" y="2293629"/>
            <a:ext cx="2407375" cy="85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b="true" sz="18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Donos de restaurantes (Pequenos/Médios)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3793154" y="920884"/>
            <a:ext cx="358020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Proposta de valor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4039880" y="2471905"/>
            <a:ext cx="13508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Ajudar a fazer o cliente voltar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5550092" y="2471905"/>
            <a:ext cx="13508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Dashboard com dicas de IA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793793" y="4061257"/>
            <a:ext cx="2407375" cy="3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b="true" sz="18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Dark Kitchens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869993" y="5434731"/>
            <a:ext cx="2407375" cy="58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b="true" sz="18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Pequenas Redes de Franquias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4822364" y="1510701"/>
            <a:ext cx="1350854" cy="2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Tudo em 1 tela </a:t>
            </a:r>
          </a:p>
        </p:txBody>
      </p:sp>
      <p:grpSp>
        <p:nvGrpSpPr>
          <p:cNvPr name="Group 159" id="159"/>
          <p:cNvGrpSpPr/>
          <p:nvPr/>
        </p:nvGrpSpPr>
        <p:grpSpPr>
          <a:xfrm rot="0">
            <a:off x="18090150" y="189139"/>
            <a:ext cx="445293" cy="9907572"/>
            <a:chOff x="0" y="0"/>
            <a:chExt cx="117279" cy="260940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7279" cy="2609402"/>
            </a:xfrm>
            <a:custGeom>
              <a:avLst/>
              <a:gdLst/>
              <a:ahLst/>
              <a:cxnLst/>
              <a:rect r="r" b="b" t="t" l="l"/>
              <a:pathLst>
                <a:path h="2609402" w="117279">
                  <a:moveTo>
                    <a:pt x="0" y="0"/>
                  </a:moveTo>
                  <a:lnTo>
                    <a:pt x="117279" y="0"/>
                  </a:lnTo>
                  <a:lnTo>
                    <a:pt x="117279" y="2609402"/>
                  </a:lnTo>
                  <a:lnTo>
                    <a:pt x="0" y="2609402"/>
                  </a:lnTo>
                  <a:close/>
                </a:path>
              </a:pathLst>
            </a:custGeom>
            <a:solidFill>
              <a:srgbClr val="FF7544">
                <a:alpha val="69804"/>
              </a:srgbClr>
            </a:solid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19050"/>
              <a:ext cx="117279" cy="2628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5400000">
            <a:off x="8990967" y="-9126531"/>
            <a:ext cx="325852" cy="18307787"/>
            <a:chOff x="0" y="0"/>
            <a:chExt cx="85821" cy="4821804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5821" cy="4821804"/>
            </a:xfrm>
            <a:custGeom>
              <a:avLst/>
              <a:gdLst/>
              <a:ahLst/>
              <a:cxnLst/>
              <a:rect r="r" b="b" t="t" l="l"/>
              <a:pathLst>
                <a:path h="4821804" w="85821">
                  <a:moveTo>
                    <a:pt x="0" y="0"/>
                  </a:moveTo>
                  <a:lnTo>
                    <a:pt x="85821" y="0"/>
                  </a:lnTo>
                  <a:lnTo>
                    <a:pt x="85821" y="4821804"/>
                  </a:lnTo>
                  <a:lnTo>
                    <a:pt x="0" y="4821804"/>
                  </a:lnTo>
                  <a:close/>
                </a:path>
              </a:pathLst>
            </a:custGeom>
            <a:solidFill>
              <a:srgbClr val="FF7544">
                <a:alpha val="69804"/>
              </a:srgbClr>
            </a:solid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19050"/>
              <a:ext cx="85821" cy="4840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65" id="165"/>
          <p:cNvGrpSpPr/>
          <p:nvPr/>
        </p:nvGrpSpPr>
        <p:grpSpPr>
          <a:xfrm rot="5400000">
            <a:off x="9063143" y="1037962"/>
            <a:ext cx="190288" cy="18307787"/>
            <a:chOff x="0" y="0"/>
            <a:chExt cx="50117" cy="482180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0117" cy="4821804"/>
            </a:xfrm>
            <a:custGeom>
              <a:avLst/>
              <a:gdLst/>
              <a:ahLst/>
              <a:cxnLst/>
              <a:rect r="r" b="b" t="t" l="l"/>
              <a:pathLst>
                <a:path h="4821804" w="50117">
                  <a:moveTo>
                    <a:pt x="0" y="0"/>
                  </a:moveTo>
                  <a:lnTo>
                    <a:pt x="50117" y="0"/>
                  </a:lnTo>
                  <a:lnTo>
                    <a:pt x="50117" y="4821804"/>
                  </a:lnTo>
                  <a:lnTo>
                    <a:pt x="0" y="4821804"/>
                  </a:lnTo>
                  <a:close/>
                </a:path>
              </a:pathLst>
            </a:custGeom>
            <a:solidFill>
              <a:srgbClr val="FF7544">
                <a:alpha val="69804"/>
              </a:srgbClr>
            </a:solid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19050"/>
              <a:ext cx="50117" cy="4840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7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4084" y="496799"/>
            <a:ext cx="6719831" cy="1063802"/>
            <a:chOff x="0" y="0"/>
            <a:chExt cx="1769832" cy="280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832" cy="280178"/>
            </a:xfrm>
            <a:custGeom>
              <a:avLst/>
              <a:gdLst/>
              <a:ahLst/>
              <a:cxnLst/>
              <a:rect r="r" b="b" t="t" l="l"/>
              <a:pathLst>
                <a:path h="280178" w="1769832">
                  <a:moveTo>
                    <a:pt x="58757" y="0"/>
                  </a:moveTo>
                  <a:lnTo>
                    <a:pt x="1711075" y="0"/>
                  </a:lnTo>
                  <a:cubicBezTo>
                    <a:pt x="1726658" y="0"/>
                    <a:pt x="1741603" y="6190"/>
                    <a:pt x="1752622" y="17210"/>
                  </a:cubicBezTo>
                  <a:cubicBezTo>
                    <a:pt x="1763642" y="28229"/>
                    <a:pt x="1769832" y="43174"/>
                    <a:pt x="1769832" y="58757"/>
                  </a:cubicBezTo>
                  <a:lnTo>
                    <a:pt x="1769832" y="221421"/>
                  </a:lnTo>
                  <a:cubicBezTo>
                    <a:pt x="1769832" y="237005"/>
                    <a:pt x="1763642" y="251950"/>
                    <a:pt x="1752622" y="262969"/>
                  </a:cubicBezTo>
                  <a:cubicBezTo>
                    <a:pt x="1741603" y="273988"/>
                    <a:pt x="1726658" y="280178"/>
                    <a:pt x="1711075" y="280178"/>
                  </a:cubicBezTo>
                  <a:lnTo>
                    <a:pt x="58757" y="280178"/>
                  </a:lnTo>
                  <a:cubicBezTo>
                    <a:pt x="43174" y="280178"/>
                    <a:pt x="28229" y="273988"/>
                    <a:pt x="17210" y="262969"/>
                  </a:cubicBezTo>
                  <a:cubicBezTo>
                    <a:pt x="6190" y="251950"/>
                    <a:pt x="0" y="237005"/>
                    <a:pt x="0" y="221421"/>
                  </a:cubicBezTo>
                  <a:lnTo>
                    <a:pt x="0" y="58757"/>
                  </a:lnTo>
                  <a:cubicBezTo>
                    <a:pt x="0" y="43174"/>
                    <a:pt x="6190" y="28229"/>
                    <a:pt x="17210" y="17210"/>
                  </a:cubicBezTo>
                  <a:cubicBezTo>
                    <a:pt x="28229" y="6190"/>
                    <a:pt x="43174" y="0"/>
                    <a:pt x="58757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69832" cy="299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1309" y="686118"/>
            <a:ext cx="4965382" cy="59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NÁLISE DE MERCADO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36632"/>
            <a:ext cx="5026823" cy="40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Oportunidade Bilionária: O setor de Food Service no Brasil foi avaliado em US$ 17,35 bilhões em 2024.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Crescimento Contínuo: Projeção de alcançar US$ 24,03 bilhões até 2029.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 Motor do Crescimento (Delivery): O delivery é a maior alavanca, já representando até 40% do faturamento de muitos estabelecimentos.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821180" y="2527285"/>
            <a:ext cx="5632609" cy="40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Dificuldade em gerenciar múltiplos canais (iFood, Rappi, WhatsApp, balcão), o que causa erros, atrasos e prejuízo.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Custo alto para atrair novos clientes, mas falta de ferramentas para conhecer e manter os clientes atuais.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 maioria dos gestores não tem dados fáceis de entender para tomar decisões sobre o que dá mais lucro, quais pratos cortar ou como otimizar a operação.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346104" y="6981937"/>
            <a:ext cx="11968349" cy="692350"/>
            <a:chOff x="0" y="0"/>
            <a:chExt cx="3152158" cy="182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2158" cy="182347"/>
            </a:xfrm>
            <a:custGeom>
              <a:avLst/>
              <a:gdLst/>
              <a:ahLst/>
              <a:cxnLst/>
              <a:rect r="r" b="b" t="t" l="l"/>
              <a:pathLst>
                <a:path h="182347" w="3152158">
                  <a:moveTo>
                    <a:pt x="32990" y="0"/>
                  </a:moveTo>
                  <a:lnTo>
                    <a:pt x="3119168" y="0"/>
                  </a:lnTo>
                  <a:cubicBezTo>
                    <a:pt x="3127917" y="0"/>
                    <a:pt x="3136308" y="3476"/>
                    <a:pt x="3142495" y="9663"/>
                  </a:cubicBezTo>
                  <a:cubicBezTo>
                    <a:pt x="3148682" y="15849"/>
                    <a:pt x="3152158" y="24241"/>
                    <a:pt x="3152158" y="32990"/>
                  </a:cubicBezTo>
                  <a:lnTo>
                    <a:pt x="3152158" y="149357"/>
                  </a:lnTo>
                  <a:cubicBezTo>
                    <a:pt x="3152158" y="158107"/>
                    <a:pt x="3148682" y="166498"/>
                    <a:pt x="3142495" y="172685"/>
                  </a:cubicBezTo>
                  <a:cubicBezTo>
                    <a:pt x="3136308" y="178871"/>
                    <a:pt x="3127917" y="182347"/>
                    <a:pt x="3119168" y="182347"/>
                  </a:cubicBezTo>
                  <a:lnTo>
                    <a:pt x="32990" y="182347"/>
                  </a:lnTo>
                  <a:cubicBezTo>
                    <a:pt x="24241" y="182347"/>
                    <a:pt x="15849" y="178871"/>
                    <a:pt x="9663" y="172685"/>
                  </a:cubicBezTo>
                  <a:cubicBezTo>
                    <a:pt x="3476" y="166498"/>
                    <a:pt x="0" y="158107"/>
                    <a:pt x="0" y="149357"/>
                  </a:cubicBezTo>
                  <a:lnTo>
                    <a:pt x="0" y="32990"/>
                  </a:lnTo>
                  <a:cubicBezTo>
                    <a:pt x="0" y="24241"/>
                    <a:pt x="3476" y="15849"/>
                    <a:pt x="9663" y="9663"/>
                  </a:cubicBezTo>
                  <a:cubicBezTo>
                    <a:pt x="15849" y="3476"/>
                    <a:pt x="24241" y="0"/>
                    <a:pt x="32990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152158" cy="201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749046" y="6985312"/>
            <a:ext cx="878990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OPORTUNIDADE DA CANNOLI INTELIGENCE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724838"/>
            <a:ext cx="162306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Não é vender um sistema, é vender inteligência e eficiência para um mercado bilionário que está perdido na complexidade!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7918" y="2013661"/>
            <a:ext cx="3876372" cy="432955"/>
            <a:chOff x="0" y="0"/>
            <a:chExt cx="1020938" cy="114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0937" cy="114029"/>
            </a:xfrm>
            <a:custGeom>
              <a:avLst/>
              <a:gdLst/>
              <a:ahLst/>
              <a:cxnLst/>
              <a:rect r="r" b="b" t="t" l="l"/>
              <a:pathLst>
                <a:path h="114029" w="1020937">
                  <a:moveTo>
                    <a:pt x="57015" y="0"/>
                  </a:moveTo>
                  <a:lnTo>
                    <a:pt x="963923" y="0"/>
                  </a:lnTo>
                  <a:cubicBezTo>
                    <a:pt x="979044" y="0"/>
                    <a:pt x="993546" y="6007"/>
                    <a:pt x="1004238" y="16699"/>
                  </a:cubicBezTo>
                  <a:cubicBezTo>
                    <a:pt x="1014931" y="27392"/>
                    <a:pt x="1020937" y="41893"/>
                    <a:pt x="1020937" y="57015"/>
                  </a:cubicBezTo>
                  <a:lnTo>
                    <a:pt x="1020937" y="57015"/>
                  </a:lnTo>
                  <a:cubicBezTo>
                    <a:pt x="1020937" y="72136"/>
                    <a:pt x="1014931" y="86638"/>
                    <a:pt x="1004238" y="97330"/>
                  </a:cubicBezTo>
                  <a:cubicBezTo>
                    <a:pt x="993546" y="108022"/>
                    <a:pt x="979044" y="114029"/>
                    <a:pt x="963923" y="114029"/>
                  </a:cubicBezTo>
                  <a:lnTo>
                    <a:pt x="57015" y="114029"/>
                  </a:lnTo>
                  <a:cubicBezTo>
                    <a:pt x="41893" y="114029"/>
                    <a:pt x="27392" y="108022"/>
                    <a:pt x="16699" y="97330"/>
                  </a:cubicBezTo>
                  <a:cubicBezTo>
                    <a:pt x="6007" y="86638"/>
                    <a:pt x="0" y="72136"/>
                    <a:pt x="0" y="57015"/>
                  </a:cubicBezTo>
                  <a:lnTo>
                    <a:pt x="0" y="57015"/>
                  </a:lnTo>
                  <a:cubicBezTo>
                    <a:pt x="0" y="41893"/>
                    <a:pt x="6007" y="27392"/>
                    <a:pt x="16699" y="16699"/>
                  </a:cubicBezTo>
                  <a:cubicBezTo>
                    <a:pt x="27392" y="6007"/>
                    <a:pt x="41893" y="0"/>
                    <a:pt x="57015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20938" cy="133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73777" y="2101551"/>
            <a:ext cx="29446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 Tamanho do Mercado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57551" y="2013661"/>
            <a:ext cx="3876372" cy="432955"/>
            <a:chOff x="0" y="0"/>
            <a:chExt cx="1020938" cy="114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0937" cy="114029"/>
            </a:xfrm>
            <a:custGeom>
              <a:avLst/>
              <a:gdLst/>
              <a:ahLst/>
              <a:cxnLst/>
              <a:rect r="r" b="b" t="t" l="l"/>
              <a:pathLst>
                <a:path h="114029" w="1020937">
                  <a:moveTo>
                    <a:pt x="57015" y="0"/>
                  </a:moveTo>
                  <a:lnTo>
                    <a:pt x="963923" y="0"/>
                  </a:lnTo>
                  <a:cubicBezTo>
                    <a:pt x="979044" y="0"/>
                    <a:pt x="993546" y="6007"/>
                    <a:pt x="1004238" y="16699"/>
                  </a:cubicBezTo>
                  <a:cubicBezTo>
                    <a:pt x="1014931" y="27392"/>
                    <a:pt x="1020937" y="41893"/>
                    <a:pt x="1020937" y="57015"/>
                  </a:cubicBezTo>
                  <a:lnTo>
                    <a:pt x="1020937" y="57015"/>
                  </a:lnTo>
                  <a:cubicBezTo>
                    <a:pt x="1020937" y="72136"/>
                    <a:pt x="1014931" y="86638"/>
                    <a:pt x="1004238" y="97330"/>
                  </a:cubicBezTo>
                  <a:cubicBezTo>
                    <a:pt x="993546" y="108022"/>
                    <a:pt x="979044" y="114029"/>
                    <a:pt x="963923" y="114029"/>
                  </a:cubicBezTo>
                  <a:lnTo>
                    <a:pt x="57015" y="114029"/>
                  </a:lnTo>
                  <a:cubicBezTo>
                    <a:pt x="41893" y="114029"/>
                    <a:pt x="27392" y="108022"/>
                    <a:pt x="16699" y="97330"/>
                  </a:cubicBezTo>
                  <a:cubicBezTo>
                    <a:pt x="6007" y="86638"/>
                    <a:pt x="0" y="72136"/>
                    <a:pt x="0" y="57015"/>
                  </a:cubicBezTo>
                  <a:lnTo>
                    <a:pt x="0" y="57015"/>
                  </a:lnTo>
                  <a:cubicBezTo>
                    <a:pt x="0" y="41893"/>
                    <a:pt x="6007" y="27392"/>
                    <a:pt x="16699" y="16699"/>
                  </a:cubicBezTo>
                  <a:cubicBezTo>
                    <a:pt x="27392" y="6007"/>
                    <a:pt x="41893" y="0"/>
                    <a:pt x="57015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0938" cy="133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906851" y="2111076"/>
            <a:ext cx="217777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Dor do Mercado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502089" y="2584435"/>
            <a:ext cx="4872525" cy="3418787"/>
          </a:xfrm>
          <a:custGeom>
            <a:avLst/>
            <a:gdLst/>
            <a:ahLst/>
            <a:cxnLst/>
            <a:rect r="r" b="b" t="t" l="l"/>
            <a:pathLst>
              <a:path h="3418787" w="4872525">
                <a:moveTo>
                  <a:pt x="0" y="0"/>
                </a:moveTo>
                <a:lnTo>
                  <a:pt x="4872525" y="0"/>
                </a:lnTo>
                <a:lnTo>
                  <a:pt x="4872525" y="3418788"/>
                </a:lnTo>
                <a:lnTo>
                  <a:pt x="0" y="341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066" r="0" b="-5571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7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4084" y="496799"/>
            <a:ext cx="6719831" cy="1063802"/>
            <a:chOff x="0" y="0"/>
            <a:chExt cx="1769832" cy="280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832" cy="280178"/>
            </a:xfrm>
            <a:custGeom>
              <a:avLst/>
              <a:gdLst/>
              <a:ahLst/>
              <a:cxnLst/>
              <a:rect r="r" b="b" t="t" l="l"/>
              <a:pathLst>
                <a:path h="280178" w="1769832">
                  <a:moveTo>
                    <a:pt x="58757" y="0"/>
                  </a:moveTo>
                  <a:lnTo>
                    <a:pt x="1711075" y="0"/>
                  </a:lnTo>
                  <a:cubicBezTo>
                    <a:pt x="1726658" y="0"/>
                    <a:pt x="1741603" y="6190"/>
                    <a:pt x="1752622" y="17210"/>
                  </a:cubicBezTo>
                  <a:cubicBezTo>
                    <a:pt x="1763642" y="28229"/>
                    <a:pt x="1769832" y="43174"/>
                    <a:pt x="1769832" y="58757"/>
                  </a:cubicBezTo>
                  <a:lnTo>
                    <a:pt x="1769832" y="221421"/>
                  </a:lnTo>
                  <a:cubicBezTo>
                    <a:pt x="1769832" y="237005"/>
                    <a:pt x="1763642" y="251950"/>
                    <a:pt x="1752622" y="262969"/>
                  </a:cubicBezTo>
                  <a:cubicBezTo>
                    <a:pt x="1741603" y="273988"/>
                    <a:pt x="1726658" y="280178"/>
                    <a:pt x="1711075" y="280178"/>
                  </a:cubicBezTo>
                  <a:lnTo>
                    <a:pt x="58757" y="280178"/>
                  </a:lnTo>
                  <a:cubicBezTo>
                    <a:pt x="43174" y="280178"/>
                    <a:pt x="28229" y="273988"/>
                    <a:pt x="17210" y="262969"/>
                  </a:cubicBezTo>
                  <a:cubicBezTo>
                    <a:pt x="6190" y="251950"/>
                    <a:pt x="0" y="237005"/>
                    <a:pt x="0" y="221421"/>
                  </a:cubicBezTo>
                  <a:lnTo>
                    <a:pt x="0" y="58757"/>
                  </a:lnTo>
                  <a:cubicBezTo>
                    <a:pt x="0" y="43174"/>
                    <a:pt x="6190" y="28229"/>
                    <a:pt x="17210" y="17210"/>
                  </a:cubicBezTo>
                  <a:cubicBezTo>
                    <a:pt x="28229" y="6190"/>
                    <a:pt x="43174" y="0"/>
                    <a:pt x="58757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69832" cy="299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01197" y="686118"/>
            <a:ext cx="5085606" cy="59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NÁLISE DE INDUSTRIA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36632"/>
            <a:ext cx="5026823" cy="378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Es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 é o maior risco do negócio, nossos "fornecedores" de dados são o iFood e o Rappi.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Se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eles decidirem mudar as regras, cobrar mais caro, ou fechar o acesso às suas APIs (integrações), a nossa proposta de valor "Tudo em 1 Tela" é diretamente ameaçada.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821180" y="2527285"/>
            <a:ext cx="5632609" cy="378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Nosso ma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ior concorrente não é outro software. É o "Caderninho", a "Planilha Excel" e o "jeito antigo" de fazer as coisas.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É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muito fácil para um dono de restaurante achar que não precisa de um sistema.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dono do restaurante pode cancelar o serviço a qualquer momento e trocar por um concorrente (Rivalidade) ou voltar para o caderninho (Substituto)..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346104" y="6981937"/>
            <a:ext cx="11968349" cy="692350"/>
            <a:chOff x="0" y="0"/>
            <a:chExt cx="3152158" cy="182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2158" cy="182347"/>
            </a:xfrm>
            <a:custGeom>
              <a:avLst/>
              <a:gdLst/>
              <a:ahLst/>
              <a:cxnLst/>
              <a:rect r="r" b="b" t="t" l="l"/>
              <a:pathLst>
                <a:path h="182347" w="3152158">
                  <a:moveTo>
                    <a:pt x="32990" y="0"/>
                  </a:moveTo>
                  <a:lnTo>
                    <a:pt x="3119168" y="0"/>
                  </a:lnTo>
                  <a:cubicBezTo>
                    <a:pt x="3127917" y="0"/>
                    <a:pt x="3136308" y="3476"/>
                    <a:pt x="3142495" y="9663"/>
                  </a:cubicBezTo>
                  <a:cubicBezTo>
                    <a:pt x="3148682" y="15849"/>
                    <a:pt x="3152158" y="24241"/>
                    <a:pt x="3152158" y="32990"/>
                  </a:cubicBezTo>
                  <a:lnTo>
                    <a:pt x="3152158" y="149357"/>
                  </a:lnTo>
                  <a:cubicBezTo>
                    <a:pt x="3152158" y="158107"/>
                    <a:pt x="3148682" y="166498"/>
                    <a:pt x="3142495" y="172685"/>
                  </a:cubicBezTo>
                  <a:cubicBezTo>
                    <a:pt x="3136308" y="178871"/>
                    <a:pt x="3127917" y="182347"/>
                    <a:pt x="3119168" y="182347"/>
                  </a:cubicBezTo>
                  <a:lnTo>
                    <a:pt x="32990" y="182347"/>
                  </a:lnTo>
                  <a:cubicBezTo>
                    <a:pt x="24241" y="182347"/>
                    <a:pt x="15849" y="178871"/>
                    <a:pt x="9663" y="172685"/>
                  </a:cubicBezTo>
                  <a:cubicBezTo>
                    <a:pt x="3476" y="166498"/>
                    <a:pt x="0" y="158107"/>
                    <a:pt x="0" y="149357"/>
                  </a:cubicBezTo>
                  <a:lnTo>
                    <a:pt x="0" y="32990"/>
                  </a:lnTo>
                  <a:cubicBezTo>
                    <a:pt x="0" y="24241"/>
                    <a:pt x="3476" y="15849"/>
                    <a:pt x="9663" y="9663"/>
                  </a:cubicBezTo>
                  <a:cubicBezTo>
                    <a:pt x="15849" y="3476"/>
                    <a:pt x="24241" y="0"/>
                    <a:pt x="32990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152158" cy="201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01804" y="6985312"/>
            <a:ext cx="7284393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POTENCIAL DE CAPTURA DE VALOR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724838"/>
            <a:ext cx="1623060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 nosso potencial está em sermos diferentes, nossa estratégia é capturar valor sendo a solução essencial que resolve a complexidade de integração gera insights e sugestões com IA.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7918" y="2013661"/>
            <a:ext cx="3876372" cy="432955"/>
            <a:chOff x="0" y="0"/>
            <a:chExt cx="1020938" cy="114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0937" cy="114029"/>
            </a:xfrm>
            <a:custGeom>
              <a:avLst/>
              <a:gdLst/>
              <a:ahLst/>
              <a:cxnLst/>
              <a:rect r="r" b="b" t="t" l="l"/>
              <a:pathLst>
                <a:path h="114029" w="1020937">
                  <a:moveTo>
                    <a:pt x="57015" y="0"/>
                  </a:moveTo>
                  <a:lnTo>
                    <a:pt x="963923" y="0"/>
                  </a:lnTo>
                  <a:cubicBezTo>
                    <a:pt x="979044" y="0"/>
                    <a:pt x="993546" y="6007"/>
                    <a:pt x="1004238" y="16699"/>
                  </a:cubicBezTo>
                  <a:cubicBezTo>
                    <a:pt x="1014931" y="27392"/>
                    <a:pt x="1020937" y="41893"/>
                    <a:pt x="1020937" y="57015"/>
                  </a:cubicBezTo>
                  <a:lnTo>
                    <a:pt x="1020937" y="57015"/>
                  </a:lnTo>
                  <a:cubicBezTo>
                    <a:pt x="1020937" y="72136"/>
                    <a:pt x="1014931" y="86638"/>
                    <a:pt x="1004238" y="97330"/>
                  </a:cubicBezTo>
                  <a:cubicBezTo>
                    <a:pt x="993546" y="108022"/>
                    <a:pt x="979044" y="114029"/>
                    <a:pt x="963923" y="114029"/>
                  </a:cubicBezTo>
                  <a:lnTo>
                    <a:pt x="57015" y="114029"/>
                  </a:lnTo>
                  <a:cubicBezTo>
                    <a:pt x="41893" y="114029"/>
                    <a:pt x="27392" y="108022"/>
                    <a:pt x="16699" y="97330"/>
                  </a:cubicBezTo>
                  <a:cubicBezTo>
                    <a:pt x="6007" y="86638"/>
                    <a:pt x="0" y="72136"/>
                    <a:pt x="0" y="57015"/>
                  </a:cubicBezTo>
                  <a:lnTo>
                    <a:pt x="0" y="57015"/>
                  </a:lnTo>
                  <a:cubicBezTo>
                    <a:pt x="0" y="41893"/>
                    <a:pt x="6007" y="27392"/>
                    <a:pt x="16699" y="16699"/>
                  </a:cubicBezTo>
                  <a:cubicBezTo>
                    <a:pt x="27392" y="6007"/>
                    <a:pt x="41893" y="0"/>
                    <a:pt x="57015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20938" cy="133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50307" y="2101551"/>
            <a:ext cx="29915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oder dos Fornecedores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57551" y="2013661"/>
            <a:ext cx="3876372" cy="432955"/>
            <a:chOff x="0" y="0"/>
            <a:chExt cx="1020938" cy="114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0937" cy="114029"/>
            </a:xfrm>
            <a:custGeom>
              <a:avLst/>
              <a:gdLst/>
              <a:ahLst/>
              <a:cxnLst/>
              <a:rect r="r" b="b" t="t" l="l"/>
              <a:pathLst>
                <a:path h="114029" w="1020937">
                  <a:moveTo>
                    <a:pt x="57015" y="0"/>
                  </a:moveTo>
                  <a:lnTo>
                    <a:pt x="963923" y="0"/>
                  </a:lnTo>
                  <a:cubicBezTo>
                    <a:pt x="979044" y="0"/>
                    <a:pt x="993546" y="6007"/>
                    <a:pt x="1004238" y="16699"/>
                  </a:cubicBezTo>
                  <a:cubicBezTo>
                    <a:pt x="1014931" y="27392"/>
                    <a:pt x="1020937" y="41893"/>
                    <a:pt x="1020937" y="57015"/>
                  </a:cubicBezTo>
                  <a:lnTo>
                    <a:pt x="1020937" y="57015"/>
                  </a:lnTo>
                  <a:cubicBezTo>
                    <a:pt x="1020937" y="72136"/>
                    <a:pt x="1014931" y="86638"/>
                    <a:pt x="1004238" y="97330"/>
                  </a:cubicBezTo>
                  <a:cubicBezTo>
                    <a:pt x="993546" y="108022"/>
                    <a:pt x="979044" y="114029"/>
                    <a:pt x="963923" y="114029"/>
                  </a:cubicBezTo>
                  <a:lnTo>
                    <a:pt x="57015" y="114029"/>
                  </a:lnTo>
                  <a:cubicBezTo>
                    <a:pt x="41893" y="114029"/>
                    <a:pt x="27392" y="108022"/>
                    <a:pt x="16699" y="97330"/>
                  </a:cubicBezTo>
                  <a:cubicBezTo>
                    <a:pt x="6007" y="86638"/>
                    <a:pt x="0" y="72136"/>
                    <a:pt x="0" y="57015"/>
                  </a:cubicBezTo>
                  <a:lnTo>
                    <a:pt x="0" y="57015"/>
                  </a:lnTo>
                  <a:cubicBezTo>
                    <a:pt x="0" y="41893"/>
                    <a:pt x="6007" y="27392"/>
                    <a:pt x="16699" y="16699"/>
                  </a:cubicBezTo>
                  <a:cubicBezTo>
                    <a:pt x="27392" y="6007"/>
                    <a:pt x="41893" y="0"/>
                    <a:pt x="57015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0938" cy="133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91693" y="2111076"/>
            <a:ext cx="280808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Ameaça de Substitutos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502089" y="2584435"/>
            <a:ext cx="4872525" cy="3418787"/>
          </a:xfrm>
          <a:custGeom>
            <a:avLst/>
            <a:gdLst/>
            <a:ahLst/>
            <a:cxnLst/>
            <a:rect r="r" b="b" t="t" l="l"/>
            <a:pathLst>
              <a:path h="3418787" w="4872525">
                <a:moveTo>
                  <a:pt x="0" y="0"/>
                </a:moveTo>
                <a:lnTo>
                  <a:pt x="4872525" y="0"/>
                </a:lnTo>
                <a:lnTo>
                  <a:pt x="4872525" y="3418788"/>
                </a:lnTo>
                <a:lnTo>
                  <a:pt x="0" y="341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066" r="0" b="-5571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7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4084" y="496799"/>
            <a:ext cx="6719831" cy="1063802"/>
            <a:chOff x="0" y="0"/>
            <a:chExt cx="1769832" cy="280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832" cy="280178"/>
            </a:xfrm>
            <a:custGeom>
              <a:avLst/>
              <a:gdLst/>
              <a:ahLst/>
              <a:cxnLst/>
              <a:rect r="r" b="b" t="t" l="l"/>
              <a:pathLst>
                <a:path h="280178" w="1769832">
                  <a:moveTo>
                    <a:pt x="58757" y="0"/>
                  </a:moveTo>
                  <a:lnTo>
                    <a:pt x="1711075" y="0"/>
                  </a:lnTo>
                  <a:cubicBezTo>
                    <a:pt x="1726658" y="0"/>
                    <a:pt x="1741603" y="6190"/>
                    <a:pt x="1752622" y="17210"/>
                  </a:cubicBezTo>
                  <a:cubicBezTo>
                    <a:pt x="1763642" y="28229"/>
                    <a:pt x="1769832" y="43174"/>
                    <a:pt x="1769832" y="58757"/>
                  </a:cubicBezTo>
                  <a:lnTo>
                    <a:pt x="1769832" y="221421"/>
                  </a:lnTo>
                  <a:cubicBezTo>
                    <a:pt x="1769832" y="237005"/>
                    <a:pt x="1763642" y="251950"/>
                    <a:pt x="1752622" y="262969"/>
                  </a:cubicBezTo>
                  <a:cubicBezTo>
                    <a:pt x="1741603" y="273988"/>
                    <a:pt x="1726658" y="280178"/>
                    <a:pt x="1711075" y="280178"/>
                  </a:cubicBezTo>
                  <a:lnTo>
                    <a:pt x="58757" y="280178"/>
                  </a:lnTo>
                  <a:cubicBezTo>
                    <a:pt x="43174" y="280178"/>
                    <a:pt x="28229" y="273988"/>
                    <a:pt x="17210" y="262969"/>
                  </a:cubicBezTo>
                  <a:cubicBezTo>
                    <a:pt x="6190" y="251950"/>
                    <a:pt x="0" y="237005"/>
                    <a:pt x="0" y="221421"/>
                  </a:cubicBezTo>
                  <a:lnTo>
                    <a:pt x="0" y="58757"/>
                  </a:lnTo>
                  <a:cubicBezTo>
                    <a:pt x="0" y="43174"/>
                    <a:pt x="6190" y="28229"/>
                    <a:pt x="17210" y="17210"/>
                  </a:cubicBezTo>
                  <a:cubicBezTo>
                    <a:pt x="28229" y="6190"/>
                    <a:pt x="43174" y="0"/>
                    <a:pt x="58757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69832" cy="299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553051" y="686118"/>
            <a:ext cx="5181898" cy="59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NÁLISE DE RECURSOS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27285"/>
            <a:ext cx="5026823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Nossa van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tagem competitiva não é ter um dashboard bonito ou mais gráficos. Isso é fácil de copiar e os concorrentes podem fazer um igual ou melhor rapidamente.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822289" y="2807059"/>
            <a:ext cx="5632609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Inteligência Artificial é o nosso recurso mais raro e valioso. Enquanto os concorrentes mostram o que já aconteceu (relatório de vendas), nossa IA sugere o que fazer (previsão de demanda, sugestão de campanha).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Os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Dados: Quanto mais restaurantes usam o sistema, mais dados coletamos. Mais dados = IA mais inteligente. Isso cria um "ciclo de vantagem" que torna quase impossível para um novo concorrente nos alcançar.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346104" y="6981937"/>
            <a:ext cx="11968349" cy="692350"/>
            <a:chOff x="0" y="0"/>
            <a:chExt cx="3152158" cy="182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2158" cy="182347"/>
            </a:xfrm>
            <a:custGeom>
              <a:avLst/>
              <a:gdLst/>
              <a:ahLst/>
              <a:cxnLst/>
              <a:rect r="r" b="b" t="t" l="l"/>
              <a:pathLst>
                <a:path h="182347" w="3152158">
                  <a:moveTo>
                    <a:pt x="32990" y="0"/>
                  </a:moveTo>
                  <a:lnTo>
                    <a:pt x="3119168" y="0"/>
                  </a:lnTo>
                  <a:cubicBezTo>
                    <a:pt x="3127917" y="0"/>
                    <a:pt x="3136308" y="3476"/>
                    <a:pt x="3142495" y="9663"/>
                  </a:cubicBezTo>
                  <a:cubicBezTo>
                    <a:pt x="3148682" y="15849"/>
                    <a:pt x="3152158" y="24241"/>
                    <a:pt x="3152158" y="32990"/>
                  </a:cubicBezTo>
                  <a:lnTo>
                    <a:pt x="3152158" y="149357"/>
                  </a:lnTo>
                  <a:cubicBezTo>
                    <a:pt x="3152158" y="158107"/>
                    <a:pt x="3148682" y="166498"/>
                    <a:pt x="3142495" y="172685"/>
                  </a:cubicBezTo>
                  <a:cubicBezTo>
                    <a:pt x="3136308" y="178871"/>
                    <a:pt x="3127917" y="182347"/>
                    <a:pt x="3119168" y="182347"/>
                  </a:cubicBezTo>
                  <a:lnTo>
                    <a:pt x="32990" y="182347"/>
                  </a:lnTo>
                  <a:cubicBezTo>
                    <a:pt x="24241" y="182347"/>
                    <a:pt x="15849" y="178871"/>
                    <a:pt x="9663" y="172685"/>
                  </a:cubicBezTo>
                  <a:cubicBezTo>
                    <a:pt x="3476" y="166498"/>
                    <a:pt x="0" y="158107"/>
                    <a:pt x="0" y="149357"/>
                  </a:cubicBezTo>
                  <a:lnTo>
                    <a:pt x="0" y="32990"/>
                  </a:lnTo>
                  <a:cubicBezTo>
                    <a:pt x="0" y="24241"/>
                    <a:pt x="3476" y="15849"/>
                    <a:pt x="9663" y="9663"/>
                  </a:cubicBezTo>
                  <a:cubicBezTo>
                    <a:pt x="15849" y="3476"/>
                    <a:pt x="24241" y="0"/>
                    <a:pt x="32990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152158" cy="201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81849" y="7002040"/>
            <a:ext cx="5124301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VANTAGEM COMPETITIVA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46760" y="8055287"/>
            <a:ext cx="1296703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Não é ter o sistema com mais funções, é ter o sistema mais inteligente. A concorrência compete com força, nós competimos com inteligência.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7918" y="2013661"/>
            <a:ext cx="3876372" cy="432955"/>
            <a:chOff x="0" y="0"/>
            <a:chExt cx="1020938" cy="114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0937" cy="114029"/>
            </a:xfrm>
            <a:custGeom>
              <a:avLst/>
              <a:gdLst/>
              <a:ahLst/>
              <a:cxnLst/>
              <a:rect r="r" b="b" t="t" l="l"/>
              <a:pathLst>
                <a:path h="114029" w="1020937">
                  <a:moveTo>
                    <a:pt x="57015" y="0"/>
                  </a:moveTo>
                  <a:lnTo>
                    <a:pt x="963923" y="0"/>
                  </a:lnTo>
                  <a:cubicBezTo>
                    <a:pt x="979044" y="0"/>
                    <a:pt x="993546" y="6007"/>
                    <a:pt x="1004238" y="16699"/>
                  </a:cubicBezTo>
                  <a:cubicBezTo>
                    <a:pt x="1014931" y="27392"/>
                    <a:pt x="1020937" y="41893"/>
                    <a:pt x="1020937" y="57015"/>
                  </a:cubicBezTo>
                  <a:lnTo>
                    <a:pt x="1020937" y="57015"/>
                  </a:lnTo>
                  <a:cubicBezTo>
                    <a:pt x="1020937" y="72136"/>
                    <a:pt x="1014931" y="86638"/>
                    <a:pt x="1004238" y="97330"/>
                  </a:cubicBezTo>
                  <a:cubicBezTo>
                    <a:pt x="993546" y="108022"/>
                    <a:pt x="979044" y="114029"/>
                    <a:pt x="963923" y="114029"/>
                  </a:cubicBezTo>
                  <a:lnTo>
                    <a:pt x="57015" y="114029"/>
                  </a:lnTo>
                  <a:cubicBezTo>
                    <a:pt x="41893" y="114029"/>
                    <a:pt x="27392" y="108022"/>
                    <a:pt x="16699" y="97330"/>
                  </a:cubicBezTo>
                  <a:cubicBezTo>
                    <a:pt x="6007" y="86638"/>
                    <a:pt x="0" y="72136"/>
                    <a:pt x="0" y="57015"/>
                  </a:cubicBezTo>
                  <a:lnTo>
                    <a:pt x="0" y="57015"/>
                  </a:lnTo>
                  <a:cubicBezTo>
                    <a:pt x="0" y="41893"/>
                    <a:pt x="6007" y="27392"/>
                    <a:pt x="16699" y="16699"/>
                  </a:cubicBezTo>
                  <a:cubicBezTo>
                    <a:pt x="27392" y="6007"/>
                    <a:pt x="41893" y="0"/>
                    <a:pt x="57015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20938" cy="133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607619" y="2068213"/>
            <a:ext cx="14769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Armadilha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57551" y="2013661"/>
            <a:ext cx="3876372" cy="432955"/>
            <a:chOff x="0" y="0"/>
            <a:chExt cx="1020938" cy="114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0937" cy="114029"/>
            </a:xfrm>
            <a:custGeom>
              <a:avLst/>
              <a:gdLst/>
              <a:ahLst/>
              <a:cxnLst/>
              <a:rect r="r" b="b" t="t" l="l"/>
              <a:pathLst>
                <a:path h="114029" w="1020937">
                  <a:moveTo>
                    <a:pt x="57015" y="0"/>
                  </a:moveTo>
                  <a:lnTo>
                    <a:pt x="963923" y="0"/>
                  </a:lnTo>
                  <a:cubicBezTo>
                    <a:pt x="979044" y="0"/>
                    <a:pt x="993546" y="6007"/>
                    <a:pt x="1004238" y="16699"/>
                  </a:cubicBezTo>
                  <a:cubicBezTo>
                    <a:pt x="1014931" y="27392"/>
                    <a:pt x="1020937" y="41893"/>
                    <a:pt x="1020937" y="57015"/>
                  </a:cubicBezTo>
                  <a:lnTo>
                    <a:pt x="1020937" y="57015"/>
                  </a:lnTo>
                  <a:cubicBezTo>
                    <a:pt x="1020937" y="72136"/>
                    <a:pt x="1014931" y="86638"/>
                    <a:pt x="1004238" y="97330"/>
                  </a:cubicBezTo>
                  <a:cubicBezTo>
                    <a:pt x="993546" y="108022"/>
                    <a:pt x="979044" y="114029"/>
                    <a:pt x="963923" y="114029"/>
                  </a:cubicBezTo>
                  <a:lnTo>
                    <a:pt x="57015" y="114029"/>
                  </a:lnTo>
                  <a:cubicBezTo>
                    <a:pt x="41893" y="114029"/>
                    <a:pt x="27392" y="108022"/>
                    <a:pt x="16699" y="97330"/>
                  </a:cubicBezTo>
                  <a:cubicBezTo>
                    <a:pt x="6007" y="86638"/>
                    <a:pt x="0" y="72136"/>
                    <a:pt x="0" y="57015"/>
                  </a:cubicBezTo>
                  <a:lnTo>
                    <a:pt x="0" y="57015"/>
                  </a:lnTo>
                  <a:cubicBezTo>
                    <a:pt x="0" y="41893"/>
                    <a:pt x="6007" y="27392"/>
                    <a:pt x="16699" y="16699"/>
                  </a:cubicBezTo>
                  <a:cubicBezTo>
                    <a:pt x="27392" y="6007"/>
                    <a:pt x="41893" y="0"/>
                    <a:pt x="57015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0938" cy="133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76959" y="2111076"/>
            <a:ext cx="16375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Arma Secreta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502089" y="2584435"/>
            <a:ext cx="4872525" cy="3418787"/>
          </a:xfrm>
          <a:custGeom>
            <a:avLst/>
            <a:gdLst/>
            <a:ahLst/>
            <a:cxnLst/>
            <a:rect r="r" b="b" t="t" l="l"/>
            <a:pathLst>
              <a:path h="3418787" w="4872525">
                <a:moveTo>
                  <a:pt x="0" y="0"/>
                </a:moveTo>
                <a:lnTo>
                  <a:pt x="4872525" y="0"/>
                </a:lnTo>
                <a:lnTo>
                  <a:pt x="4872525" y="3418788"/>
                </a:lnTo>
                <a:lnTo>
                  <a:pt x="0" y="341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066" r="0" b="-5571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DAG4QZyvueQ</dc:identifier>
  <dcterms:modified xsi:type="dcterms:W3CDTF">2011-08-01T06:04:30Z</dcterms:modified>
  <cp:revision>1</cp:revision>
  <dc:title>Blue Purple Simple Business Model Canvas Brainstorm</dc:title>
</cp:coreProperties>
</file>